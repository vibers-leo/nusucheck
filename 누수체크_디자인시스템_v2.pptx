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15E5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1828800"/>
            <a:ext cx="2743200" cy="2743200"/>
          </a:xfrm>
          <a:prstGeom prst="ellipse">
            <a:avLst/>
          </a:prstGeom>
          <a:solidFill>
            <a:srgbClr val="9333E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누수체크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UX/UI 디자인 시스템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— 토스 · 당근마켓 · 미소 레퍼런스 기반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4747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Toss Style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34747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당근마켓 UX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1737360" cy="365760"/>
          </a:xfrm>
          <a:prstGeom prst="roundRect">
            <a:avLst>
              <a:gd name="adj" fmla="val 37500"/>
            </a:avLst>
          </a:pr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미소 서비스 패턴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클로드코드 연동용 · 2026.03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디자인 원칙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레퍼런스에서 추출한 핵심 원칙 4가지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심플 &amp; 화이트스페이스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토스처럼 한 화면에 하나의 액션.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여백을 충분히 확보하여 시각적 피로 최소화.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84048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터치 영역 + 라운드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당근마켓의 24px 라운드 카드와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48px 터치 타겟으로 모바일 최적화.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84048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54680"/>
            <a:ext cx="54864" cy="1554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구축 UX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미소처럼 리뷰/별점을 적극 노출.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에스크로 결제로 안심 거래 강조.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840480" cy="15544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54680"/>
            <a:ext cx="54864" cy="15544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333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중심 디자인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프로세스에 명확한 상태 표시.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코딩 + 타임라인으로 진행 상황 직관 전달.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컬러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클래스명 기준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(Teal) — 신뢰 · 전문성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0FDF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#F0FDFA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primary-50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92024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#CCFBF1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primary-100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#14B8A6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primary-500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#0D9488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primary-600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#0F766E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3504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primary-700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406640" y="150876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115E59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#115E59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06640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primary-800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컬러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1463040" cy="822960"/>
          </a:xfrm>
          <a:prstGeom prst="roundRect">
            <a:avLst/>
          </a:prstGeom>
          <a:solidFill>
            <a:srgbClr val="FEFCE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3200400"/>
            <a:ext cx="320040" cy="3200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#EAB308  ·  yellow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94560" y="3063240"/>
            <a:ext cx="1463040" cy="822960"/>
          </a:xfrm>
          <a:prstGeom prst="round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31720" y="32004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3172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#3B82F6  ·  blue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40480" y="3063240"/>
            <a:ext cx="1463040" cy="822960"/>
          </a:xfrm>
          <a:prstGeom prst="round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77640" y="320040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7764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#22C55E  ·  green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3063240"/>
            <a:ext cx="1463040" cy="822960"/>
          </a:xfrm>
          <a:prstGeom prst="round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2356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거절/오류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#EF4444  ·  red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132320" y="3063240"/>
            <a:ext cx="1463040" cy="822960"/>
          </a:xfrm>
          <a:prstGeom prst="roundRect">
            <a:avLst/>
          </a:prstGeom>
          <a:solidFill>
            <a:srgbClr val="FAF5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69480" y="3200400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3" name="Text 41"/>
          <p:cNvSpPr/>
          <p:nvPr/>
        </p:nvSpPr>
        <p:spPr>
          <a:xfrm>
            <a:off x="763524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AI/혁신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3584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#A855F7  ·  purple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중립 컬러 (Neutral)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4348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8646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gray-50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691640" y="44348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/>
        </p:spPr>
      </p:sp>
      <p:sp>
        <p:nvSpPr>
          <p:cNvPr id="49" name="Text 47"/>
          <p:cNvSpPr/>
          <p:nvPr/>
        </p:nvSpPr>
        <p:spPr>
          <a:xfrm>
            <a:off x="1691640" y="48646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gray-100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834640" y="44348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5E7EB"/>
          </a:solidFill>
          <a:ln/>
        </p:spPr>
      </p:sp>
      <p:sp>
        <p:nvSpPr>
          <p:cNvPr id="51" name="Text 49"/>
          <p:cNvSpPr/>
          <p:nvPr/>
        </p:nvSpPr>
        <p:spPr>
          <a:xfrm>
            <a:off x="2834640" y="48646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gray-200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977640" y="44348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9CA3AF"/>
          </a:solidFill>
          <a:ln/>
        </p:spPr>
      </p:sp>
      <p:sp>
        <p:nvSpPr>
          <p:cNvPr id="53" name="Text 51"/>
          <p:cNvSpPr/>
          <p:nvPr/>
        </p:nvSpPr>
        <p:spPr>
          <a:xfrm>
            <a:off x="3977640" y="48646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gray-400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120640" y="44348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4B5563"/>
          </a:solidFill>
          <a:ln/>
        </p:spPr>
      </p:sp>
      <p:sp>
        <p:nvSpPr>
          <p:cNvPr id="55" name="Text 53"/>
          <p:cNvSpPr/>
          <p:nvPr/>
        </p:nvSpPr>
        <p:spPr>
          <a:xfrm>
            <a:off x="5120640" y="48646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gray-600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263640" y="44348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1F2937"/>
          </a:solidFill>
          <a:ln/>
        </p:spPr>
      </p:sp>
      <p:sp>
        <p:nvSpPr>
          <p:cNvPr id="57" name="Text 55"/>
          <p:cNvSpPr/>
          <p:nvPr/>
        </p:nvSpPr>
        <p:spPr>
          <a:xfrm>
            <a:off x="6263640" y="48646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gray-800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406640" y="44348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/>
        </p:spPr>
      </p:sp>
      <p:sp>
        <p:nvSpPr>
          <p:cNvPr id="59" name="Text 57"/>
          <p:cNvSpPr/>
          <p:nvPr/>
        </p:nvSpPr>
        <p:spPr>
          <a:xfrm>
            <a:off x="7406640" y="48646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gray-900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타이포그래피 &amp; 간격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— Pretendard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 Title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text-5xl (48px)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누수, 10분이면 해결됩니다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80467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Title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920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text-2xl (24px)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안녕하세요, 홍길동님!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80467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text-lg (18px)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중인 체크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807208"/>
            <a:ext cx="80467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Title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text-base (16px)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욕실 천장 누수 체크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10128"/>
            <a:ext cx="80467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429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text-sm (14px)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6616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분석한 결과, 배관 노후화로 인한 누수로 판단됩니다.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13048"/>
            <a:ext cx="804672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31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931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text-xs (12px)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6616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2024.03.08 접수 · 강남구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간격 시스템 (8px 기반)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gap-xs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25880" y="4297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4px (0.25rem) — 아이콘-텍스트 간격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328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gap-sm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60520" y="4297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8px (0.5rem) — 인라인 요소 간격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gap-md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95160" y="4297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12px (0.75rem) — 카드 내 요소 간격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gap-lg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25880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16px (1rem) — 섹션 내 블록 간격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gap-xl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60520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24px (1.5rem) — 섹션 간 간격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gap-2xl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95160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32px (2rem) — 메인 섹션 구분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컴포넌트 라이브러리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· 배지 · 카드 · 입력 필드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60320" cy="502920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 체크 시작하기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· rounded-2xl · py-4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28600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회원이에요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 · border-2 · border-gray-200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760720" y="1508760"/>
            <a:ext cx="1828800" cy="502920"/>
          </a:xfrm>
          <a:prstGeom prst="roundRect">
            <a:avLst>
              <a:gd name="adj" fmla="val 27273"/>
            </a:avLst>
          </a:prstGeom>
          <a:solidFill>
            <a:srgbClr val="F0FDF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보기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 · bg-primary-50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772400" y="1508760"/>
            <a:ext cx="1097280" cy="502920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2057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BADGES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EFC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2834640"/>
            <a:ext cx="164592" cy="164592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2743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2743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304288" y="283464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2487168" y="2743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2743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950208" y="2834640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4133088" y="2743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견적수신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2743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5596128" y="283464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5779008" y="2743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0" y="27432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/>
        </p:spPr>
      </p:sp>
      <p:sp>
        <p:nvSpPr>
          <p:cNvPr id="32" name="Shape 30"/>
          <p:cNvSpPr/>
          <p:nvPr/>
        </p:nvSpPr>
        <p:spPr>
          <a:xfrm>
            <a:off x="7242048" y="28346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7424928" y="2743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61188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7240" y="37490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7490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욕실 천장 누수 체크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강남구 · 2024.03.08 접수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4572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1건 수신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9377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요청 카드 — 리스트 아이템 패턴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663440" y="36118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46634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4617720"/>
            <a:ext cx="14630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이번주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4937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통계 카드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766560" y="361188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086600" y="3794760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766560" y="4434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 체크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6656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 접수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6656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빠른 액션 카드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01 · 고객 랜딩 페이지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customers/pages/landing.html.erb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38404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2560320" cy="2743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2286000" cy="2286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누수 진단 플랫폼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누수, </a:t>
            </a:r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10분</a:t>
            </a:r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해결됩니다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시작하기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2926080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26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63040" y="2926080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926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AI분석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40280" y="2926080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2926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4747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스펙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13716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레퍼런스: 토스 메인 페이지 (풀스크린 히어로)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16459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배경: bg-gradient-to-br from-primary-50 via-white to-purple-50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1920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히어로 캐치프레이즈: text-5xl → md:text-6xl font-extrabold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2194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그라디언트 텍스트: bg-clip-text from-primary-600 to-purple-600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2468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버튼: bg-gradient-to-r from-primary-600 to-purple-600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49040" y="2743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rounded-2xl px-8 py-5 (큰 터치 영역)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9040" y="3017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hover:shadow-2xl transition-all 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291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카드: 3컬럼 그리드, 각각 다른 그라디언트 배경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9040" y="3566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from-blue-50, from-purple-50, from-green-50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0" y="3840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rounded-3xl p-8 border-2 hover:-translate-y-2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0" y="4114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지표 섹션: 아이콘 + 수치 (4.8/5.0 등)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0" y="4389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섹션: 아이콘 원형 → 제목 → 설명 패턴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46634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CTA 반복: 페이지 끝에서 다시 한번 전환 유도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02 · 고객 대시보드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customers/dashboard/index.html.erb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3840480"/>
          </a:xfrm>
          <a:prstGeom prst="roundRect">
            <a:avLst>
              <a:gd name="adj" fmla="val 714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14300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안녕하세요, 홍길동님! 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오늘도 안전한 하루 되세요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 체크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463040" y="192024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196596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3317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요청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240280" y="1920240"/>
            <a:ext cx="713232" cy="7315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196596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23317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 신청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85800" y="2788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163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06324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463040" y="2788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28163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8A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06324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견적대기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240280" y="2788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28163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40280" y="306324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685800" y="34290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3493008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4930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777240" y="3685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욕실 천장 누수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384048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강남구 · 견적 1건 수신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25603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462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3856" y="4462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09344" y="4462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084832" y="4462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60320" y="4462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47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스펙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474720" y="13716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레퍼런스: 당근마켓 홈 + 미소 대시보드 조합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0" y="160934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배경: bg-gray-50 (전체 페이지)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0" y="184708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 카드: bg-gradient-to-r from-primary-600 to-primary-700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749040" y="20848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rounded-3xl p-6 text-white shadow-lg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74720" y="232257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액션: grid grid-cols-3 gap-3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749040" y="25603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bg-white rounded-2xl p-5 text-center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749040" y="27980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아이콘: w-14 h-14 bg-{color}-100 rounded-full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749040" y="30358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hover:shadow-lg hover:border-primary-200 transition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474720" y="327355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통계: grid grid-cols-3 gap-3, 큰 숫자 + 라벨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749040" y="35112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text-2xl font-extrabold + text-xs text-gray-600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74720" y="37490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카드 리스트: mb-6 각 카드 사이 간격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749040" y="39867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bg-white rounded-2xl p-4 border-2 border-gray-100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749040" y="42245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상태배지 + 제목 + 위치·날짜 + 액션 링크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474720" y="44622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네비게이션: fixed bottom-0, 5탭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749040" y="4700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홈/내요청/체크하기/채팅/프로필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749040" y="49377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중앙 FAB: bg-primary-600 rounded-full -mt-6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03 · 체크 요청 폼 (원퀘스천 위저드)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customers/requests/new.html.erb — 토스 스타일 7단계 위저드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38404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34440"/>
            <a:ext cx="310896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어디에서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누수가 발생했나요?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욕실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23160" y="23774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주방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거실/방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베란다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40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옥상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2194560" cy="320040"/>
          </a:xfrm>
          <a:prstGeom prst="roundRect">
            <a:avLst>
              <a:gd name="adj" fmla="val 34286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005840"/>
            <a:ext cx="2560320" cy="38404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123444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123444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1417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2900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증상이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있나요?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29000" y="237744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물방울 떨어짐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03520" y="23774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274320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2743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벽/천장 얼룩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310896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곰팡이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29000" y="347472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바닥 젖음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29000" y="4343400"/>
            <a:ext cx="2194560" cy="320040"/>
          </a:xfrm>
          <a:prstGeom prst="roundRect">
            <a:avLst>
              <a:gd name="adj" fmla="val 34286"/>
            </a:avLst>
          </a:prstGeom>
          <a:solidFill>
            <a:srgbClr val="A855F7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1005840"/>
            <a:ext cx="2560320" cy="38404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123444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1234440"/>
            <a:ext cx="182880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1417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093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 영상을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올려주세요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09360" y="237744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영상 촬영하기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83880" y="23774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09360" y="274320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2743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갤러리에서 선택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09360" y="4343400"/>
            <a:ext cx="2194560" cy="320040"/>
          </a:xfrm>
          <a:prstGeom prst="roundRect">
            <a:avLst>
              <a:gd name="adj" fmla="val 34286"/>
            </a:avLst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04-05 · 요청 상세 &amp; 견적 상세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931920"/>
          </a:xfrm>
          <a:prstGeom prst="roundRect">
            <a:avLst>
              <a:gd name="adj" fmla="val 714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체크 상세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5544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645920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647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1170432" y="15544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3312" y="1645920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7647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배정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1609344" y="15544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1792224" y="1645920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7904" y="17647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2048256" y="1554480"/>
            <a:ext cx="182880" cy="18288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2231136" y="1645920"/>
            <a:ext cx="2560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17647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2487168" y="1554480"/>
            <a:ext cx="182880" cy="18288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2395728" y="17647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731520" y="196596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19659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견적수신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31520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욕실 천장 누수 체크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24688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514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배정된 전문가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31520" y="2697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김전문 마스터 ⭐4.9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" y="3154680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확인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783080" y="3154680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채팅하기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상세 페이지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0" y="914400"/>
            <a:ext cx="2560320" cy="3931920"/>
          </a:xfrm>
          <a:prstGeom prst="roundRect">
            <a:avLst>
              <a:gd name="adj" fmla="val 714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914400"/>
            <a:ext cx="25603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견적 상세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20440" y="1417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1444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금액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350,000원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11880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배관 점검 및 수리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37760" y="2103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150,000원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11880" y="2359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방수 처리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37760" y="23591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150,000원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11880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마감 복원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37760" y="26151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150,000원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11880" y="2871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출장비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37760" y="28712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520440" y="429768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352044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승인하기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8328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상세 페이지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0936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패턴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30936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상태 타임라인 (5단계 시각화)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카드형 정보 블록 (rounded-2xl)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9360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전문가 프로필 카드 (별점 포함)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2157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금액: text-3xl font-extrabold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09360" y="2450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항목별 금액 리스트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30936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CTA 버튼: 하단 고정 (sticky)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09360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채팅 버튼: 실시간 소통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09360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취소 버튼: text-red-500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PAGE 06-07 · 전문가 대시보드 &amp; 관리자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31920"/>
          </a:xfrm>
          <a:prstGeom prst="roundRect">
            <a:avLst>
              <a:gd name="adj" fmla="val 3488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대시보드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달 수익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2,450,000원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vs 지난달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04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6791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배정 오더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463040" y="237744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404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6791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오더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377440" y="237744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2404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26791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291840" y="237744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404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26791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평점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중인 오더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410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강남구 욕실 누수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35935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작성 중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37490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913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서초구 주방 배관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409651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진행 중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4114800" cy="3931920"/>
          </a:xfrm>
          <a:prstGeom prst="roundRect">
            <a:avLst>
              <a:gd name="adj" fmla="val 3488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14173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0FDFA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37760" y="1801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요청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14173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17920" y="1801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98080" y="141732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1463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98080" y="1801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매칭률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37760" y="2240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EFCE8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2286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937760" y="26243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평균평점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17920" y="2240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AF5FF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2286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33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217920" y="26243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98080" y="224028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0" y="2286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₩12M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498080" y="26243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37760" y="32004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 추이 차트 (Chart.js)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212080" y="4206240"/>
            <a:ext cx="18288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2" name="Shape 50"/>
          <p:cNvSpPr/>
          <p:nvPr/>
        </p:nvSpPr>
        <p:spPr>
          <a:xfrm>
            <a:off x="5532120" y="4023360"/>
            <a:ext cx="18288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Shape 51"/>
          <p:cNvSpPr/>
          <p:nvPr/>
        </p:nvSpPr>
        <p:spPr>
          <a:xfrm>
            <a:off x="5852160" y="4114800"/>
            <a:ext cx="1828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4" name="Shape 52"/>
          <p:cNvSpPr/>
          <p:nvPr/>
        </p:nvSpPr>
        <p:spPr>
          <a:xfrm>
            <a:off x="6172200" y="3840480"/>
            <a:ext cx="18288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5" name="Shape 53"/>
          <p:cNvSpPr/>
          <p:nvPr/>
        </p:nvSpPr>
        <p:spPr>
          <a:xfrm>
            <a:off x="6492240" y="3931920"/>
            <a:ext cx="18288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12280" y="3749040"/>
            <a:ext cx="182880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7" name="Shape 55"/>
          <p:cNvSpPr/>
          <p:nvPr/>
        </p:nvSpPr>
        <p:spPr>
          <a:xfrm>
            <a:off x="7132320" y="3566160"/>
            <a:ext cx="182880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52360" y="3840480"/>
            <a:ext cx="182880" cy="640080"/>
          </a:xfrm>
          <a:prstGeom prst="rect">
            <a:avLst/>
          </a:prstGeom>
          <a:solidFill>
            <a:srgbClr val="99F6E4"/>
          </a:solidFill>
          <a:ln/>
        </p:spPr>
      </p:sp>
      <p:sp>
        <p:nvSpPr>
          <p:cNvPr id="59" name="Shape 57"/>
          <p:cNvSpPr/>
          <p:nvPr/>
        </p:nvSpPr>
        <p:spPr>
          <a:xfrm>
            <a:off x="7772400" y="3657600"/>
            <a:ext cx="182880" cy="822960"/>
          </a:xfrm>
          <a:prstGeom prst="rect">
            <a:avLst/>
          </a:prstGeom>
          <a:solidFill>
            <a:srgbClr val="99F6E4"/>
          </a:solidFill>
          <a:ln/>
        </p:spPr>
      </p:sp>
      <p:sp>
        <p:nvSpPr>
          <p:cNvPr id="60" name="Shape 58"/>
          <p:cNvSpPr/>
          <p:nvPr/>
        </p:nvSpPr>
        <p:spPr>
          <a:xfrm>
            <a:off x="8092440" y="3931920"/>
            <a:ext cx="182880" cy="548640"/>
          </a:xfrm>
          <a:prstGeom prst="rect">
            <a:avLst/>
          </a:prstGeom>
          <a:solidFill>
            <a:srgbClr val="99F6E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공통 패턴 · 네비게이션 &amp; 레이아웃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51560" y="1280160"/>
            <a:ext cx="502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요청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60520" y="1051560"/>
            <a:ext cx="502920" cy="5029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16002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체크하기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7784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00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13232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16002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2103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bottom-0 · bg-white · shadow-lg · z-50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2860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중앙 FAB: bg-primary-600 rounded-full w-14 h-14 -mt-6 shadow-lg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HEADER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38404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상세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3840480" cy="14630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요청이 없습니다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8404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누수가 발생했다면 지금 바로 체크해보세요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4069080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 체크 시작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NOTIFICATION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069080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F0FDF4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견적이 성공적으로 제출되었습니다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LOADING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66344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4727448"/>
            <a:ext cx="914400" cy="10972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4873752"/>
            <a:ext cx="2286000" cy="91440"/>
          </a:xfrm>
          <a:prstGeom prst="roundRect">
            <a:avLst>
              <a:gd name="adj" fmla="val 30000"/>
            </a:avLst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페이지 맵 &amp; 우선순위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핵심 (완성 필요)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3A2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랜딩 ✅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3A2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대시보드 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85416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3A2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854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 폼 위저드 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694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로그인/회원가입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53512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53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목록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상세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721608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21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상세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914400"/>
            <a:ext cx="2743200" cy="5486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중요 (다음 스프린트)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141732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3A2F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대시보드 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1801368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오더 목록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185416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21854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작성 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2569464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5694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보험청구 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2953512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2953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결제/체크아웃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33756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3721608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721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목록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보강 (이후)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141732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3A2F1E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 🔧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1801368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요청/전문가 관리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185416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21854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프로필/설정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2569464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25694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작성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2953512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2953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FAQ/About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333756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1E2937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등록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완성    🔧 진행중    미표시 = 미착수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누수체크 UX/UI 디자인 시스템 v2.0</dc:title>
  <dc:subject>PptxGenJS Presentation</dc:subject>
  <dc:creator>누수체크 디자인팀</dc:creator>
  <cp:lastModifiedBy>누수체크 디자인팀</cp:lastModifiedBy>
  <cp:revision>1</cp:revision>
  <dcterms:created xsi:type="dcterms:W3CDTF">2026-03-08T22:55:51Z</dcterms:created>
  <dcterms:modified xsi:type="dcterms:W3CDTF">2026-03-08T22:55:51Z</dcterms:modified>
</cp:coreProperties>
</file>